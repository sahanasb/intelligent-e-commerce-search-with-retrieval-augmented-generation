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EB Garamond"/>
      <p:regular r:id="rId18"/>
      <p:bold r:id="rId19"/>
      <p:italic r:id="rId20"/>
      <p:boldItalic r:id="rId21"/>
    </p:embeddedFont>
    <p:embeddedFont>
      <p:font typeface="Old Standard TT"/>
      <p:regular r:id="rId22"/>
      <p:bold r:id="rId23"/>
      <p: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italic.fntdata"/><Relationship Id="rId11" Type="http://schemas.openxmlformats.org/officeDocument/2006/relationships/slide" Target="slides/slide6.xml"/><Relationship Id="rId22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21" Type="http://schemas.openxmlformats.org/officeDocument/2006/relationships/font" Target="fonts/EBGaramond-boldItalic.fntdata"/><Relationship Id="rId13" Type="http://schemas.openxmlformats.org/officeDocument/2006/relationships/slide" Target="slides/slide8.xml"/><Relationship Id="rId24" Type="http://schemas.openxmlformats.org/officeDocument/2006/relationships/font" Target="fonts/OldStandardTT-italic.fntdata"/><Relationship Id="rId12" Type="http://schemas.openxmlformats.org/officeDocument/2006/relationships/slide" Target="slides/slide7.xml"/><Relationship Id="rId23" Type="http://schemas.openxmlformats.org/officeDocument/2006/relationships/font" Target="fonts/OldStandardT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-bold.fntdata"/><Relationship Id="rId6" Type="http://schemas.openxmlformats.org/officeDocument/2006/relationships/slide" Target="slides/slide1.xml"/><Relationship Id="rId18" Type="http://schemas.openxmlformats.org/officeDocument/2006/relationships/font" Target="fonts/EBGaramon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6aff7b2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6aff7b2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86aff7b2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86aff7b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6aff7b2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86aff7b2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86aff7b2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86aff7b25_0_103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86aff7b2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86aff7b2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86aff7b2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86aff7b2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86aff7b25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86aff7b25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724575" y="845875"/>
            <a:ext cx="8123100" cy="242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6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3960">
                <a:latin typeface="EB Garamond"/>
                <a:ea typeface="EB Garamond"/>
                <a:cs typeface="EB Garamond"/>
                <a:sym typeface="EB Garamond"/>
              </a:rPr>
              <a:t>Intelligent E-Commerce Search with Retrieval Augmented Generation</a:t>
            </a:r>
            <a:endParaRPr b="1" sz="396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2400">
                <a:latin typeface="EB Garamond"/>
                <a:ea typeface="EB Garamond"/>
                <a:cs typeface="EB Garamond"/>
                <a:sym typeface="EB Garamond"/>
              </a:rPr>
              <a:t>Professor. Bertin Cordova-Diba, Ph.D.</a:t>
            </a:r>
            <a:br>
              <a:rPr b="1" lang="en" sz="2400"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 sz="2400">
                <a:latin typeface="EB Garamond"/>
                <a:ea typeface="EB Garamond"/>
                <a:cs typeface="EB Garamond"/>
                <a:sym typeface="EB Garamond"/>
              </a:rPr>
              <a:t>CMPE 255 - Data Mining</a:t>
            </a:r>
            <a:endParaRPr b="1"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6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622553"/>
            <a:ext cx="8118600" cy="10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B Garamond"/>
                <a:ea typeface="EB Garamond"/>
                <a:cs typeface="EB Garamond"/>
                <a:sym typeface="EB Garamond"/>
              </a:rPr>
              <a:t>Sahana Srinivasa Babu - 019175975</a:t>
            </a:r>
            <a:endParaRPr b="1"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B Garamond"/>
                <a:ea typeface="EB Garamond"/>
                <a:cs typeface="EB Garamond"/>
                <a:sym typeface="EB Garamond"/>
              </a:rPr>
              <a:t>Bishakha - 019178354</a:t>
            </a:r>
            <a:endParaRPr b="1"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B Garamond"/>
                <a:ea typeface="EB Garamond"/>
                <a:cs typeface="EB Garamond"/>
                <a:sym typeface="EB Garamond"/>
              </a:rPr>
              <a:t>Kevin Anto Jesus William Basker - 017478604</a:t>
            </a:r>
            <a:endParaRPr b="1"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B Garamond"/>
                <a:ea typeface="EB Garamond"/>
                <a:cs typeface="EB Garamond"/>
                <a:sym typeface="EB Garamond"/>
              </a:rPr>
              <a:t>Shiyuan Wang - 015632175</a:t>
            </a:r>
            <a:endParaRPr b="1" sz="18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61" name="Google Shape;61;p13"/>
          <p:cNvCxnSpPr/>
          <p:nvPr/>
        </p:nvCxnSpPr>
        <p:spPr>
          <a:xfrm flipH="1" rot="10800000">
            <a:off x="512700" y="3589850"/>
            <a:ext cx="964800" cy="327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lang="en" sz="3500">
                <a:latin typeface="EB Garamond"/>
                <a:ea typeface="EB Garamond"/>
                <a:cs typeface="EB Garamond"/>
                <a:sym typeface="EB Garamond"/>
              </a:rPr>
              <a:t>Problem &amp; Motivation</a:t>
            </a:r>
            <a:endParaRPr b="1" sz="35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695975"/>
            <a:ext cx="8520600" cy="4101900"/>
          </a:xfrm>
          <a:prstGeom prst="rect">
            <a:avLst/>
          </a:prstGeom>
          <a:ln cap="flat" cmpd="sng" w="9525">
            <a:solidFill>
              <a:srgbClr val="FFF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EB Garamond"/>
              <a:buChar char="●"/>
            </a:pPr>
            <a: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  <a:t>Traditional keyword search often misses user intent</a:t>
            </a:r>
            <a:b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Keyword search has limited understanding of user intent</a:t>
            </a:r>
            <a:br>
              <a:rPr b="1" lang="en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444444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EB Garamond"/>
              <a:buChar char="●"/>
            </a:pPr>
            <a: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  <a:t>Semantic retrieval improves search relevance.</a:t>
            </a:r>
            <a:b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Semantic retrieval better understands user intent and returns more relevant products.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444444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EB Garamond"/>
              <a:buChar char="●"/>
            </a:pPr>
            <a: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  <a:t>RAG combines retrieval with LLM generation.</a:t>
            </a:r>
            <a:b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RAG retrieves relevant products and uses an LLM to generate recommendations.</a:t>
            </a:r>
            <a:br>
              <a:rPr b="1" lang="en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EB Garamond"/>
              <a:buChar char="●"/>
            </a:pPr>
            <a: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  <a:t>Generates accurate and context-aware recommendations.</a:t>
            </a:r>
            <a:br>
              <a:rPr lang="en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Provides recommendations based on the user's intent and retrieved product information.</a:t>
            </a:r>
            <a:endParaRPr>
              <a:solidFill>
                <a:srgbClr val="44444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425450" y="3542575"/>
            <a:ext cx="6293100" cy="1190100"/>
          </a:xfrm>
          <a:prstGeom prst="roundRect">
            <a:avLst>
              <a:gd fmla="val 16667" name="adj"/>
            </a:avLst>
          </a:prstGeom>
          <a:solidFill>
            <a:srgbClr val="F8F8F8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472850" y="3510025"/>
            <a:ext cx="6198300" cy="1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3876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" </a:t>
            </a:r>
            <a:r>
              <a:rPr b="1" lang="en" sz="21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Budget phone with good battery life.</a:t>
            </a:r>
            <a:r>
              <a:rPr b="1" i="1" lang="en" sz="2400">
                <a:solidFill>
                  <a:srgbClr val="3876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"</a:t>
            </a:r>
            <a:endParaRPr b="1" i="1" sz="2400">
              <a:solidFill>
                <a:srgbClr val="38761D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E0666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“budget” or “battery"	  </a:t>
            </a:r>
            <a:endParaRPr b="1" i="1" sz="1300">
              <a:solidFill>
                <a:srgbClr val="E06666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E0666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</a:t>
            </a:r>
            <a:r>
              <a:rPr b="1" i="1" lang="en" sz="1300">
                <a:solidFill>
                  <a:srgbClr val="6AA84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“long-lasting battery” or “value for money smartphone”</a:t>
            </a:r>
            <a:endParaRPr b="1" i="1" sz="1300">
              <a:solidFill>
                <a:srgbClr val="6AA84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EB Garamond"/>
                <a:ea typeface="EB Garamond"/>
                <a:cs typeface="EB Garamond"/>
                <a:sym typeface="EB Garamond"/>
              </a:rPr>
              <a:t>Dataset and Data Preprocessing</a:t>
            </a:r>
            <a:endParaRPr b="1" sz="35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127725" y="916900"/>
            <a:ext cx="2920800" cy="3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ookman Old Style"/>
                <a:ea typeface="Bookman Old Style"/>
                <a:cs typeface="Bookman Old Style"/>
                <a:sym typeface="Bookman Old Style"/>
              </a:rPr>
              <a:t>  </a:t>
            </a:r>
            <a:r>
              <a:rPr b="1" lang="en" sz="1400"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lang="en" sz="1400">
                <a:solidFill>
                  <a:schemeClr val="accent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Acquisition</a:t>
            </a:r>
            <a:r>
              <a:rPr b="1" lang="en" sz="1400">
                <a:solidFill>
                  <a:schemeClr val="accent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	</a:t>
            </a:r>
            <a:r>
              <a:rPr b="1" lang="en" sz="1400">
                <a:latin typeface="Bookman Old Style"/>
                <a:ea typeface="Bookman Old Style"/>
                <a:cs typeface="Bookman Old Style"/>
                <a:sym typeface="Bookman Old Style"/>
              </a:rPr>
              <a:t>	                     </a:t>
            </a:r>
            <a:r>
              <a:rPr b="1" lang="en" sz="1200">
                <a:latin typeface="Bookman Old Style"/>
                <a:ea typeface="Bookman Old Style"/>
                <a:cs typeface="Bookman Old Style"/>
                <a:sym typeface="Bookman Old Style"/>
              </a:rPr>
              <a:t>			</a:t>
            </a:r>
            <a:endParaRPr b="1" sz="12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Kaggle E-Commerce Products Dataset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6,506 Amazon products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28 product categories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Product attributes: title, </a:t>
            </a:r>
            <a:b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category, price, rating</a:t>
            </a:r>
            <a:b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nd </a:t>
            </a: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reviews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/>
          </a:p>
        </p:txBody>
      </p:sp>
      <p:cxnSp>
        <p:nvCxnSpPr>
          <p:cNvPr id="76" name="Google Shape;76;p15"/>
          <p:cNvCxnSpPr/>
          <p:nvPr/>
        </p:nvCxnSpPr>
        <p:spPr>
          <a:xfrm>
            <a:off x="364050" y="1333275"/>
            <a:ext cx="8415900" cy="0"/>
          </a:xfrm>
          <a:prstGeom prst="straightConnector1">
            <a:avLst/>
          </a:prstGeom>
          <a:noFill/>
          <a:ln cap="flat" cmpd="sng" w="38100">
            <a:solidFill>
              <a:srgbClr val="26A69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/>
          <p:nvPr/>
        </p:nvCxnSpPr>
        <p:spPr>
          <a:xfrm>
            <a:off x="2980500" y="1328450"/>
            <a:ext cx="255600" cy="6600"/>
          </a:xfrm>
          <a:prstGeom prst="straightConnector1">
            <a:avLst/>
          </a:prstGeom>
          <a:noFill/>
          <a:ln cap="flat" cmpd="sng" w="76200">
            <a:solidFill>
              <a:srgbClr val="FFFBF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5"/>
          <p:cNvCxnSpPr/>
          <p:nvPr/>
        </p:nvCxnSpPr>
        <p:spPr>
          <a:xfrm flipH="1" rot="10800000">
            <a:off x="6029125" y="1345600"/>
            <a:ext cx="255300" cy="8400"/>
          </a:xfrm>
          <a:prstGeom prst="straightConnector1">
            <a:avLst/>
          </a:prstGeom>
          <a:noFill/>
          <a:ln cap="flat" cmpd="sng" w="76200">
            <a:solidFill>
              <a:srgbClr val="FFFBF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5"/>
          <p:cNvSpPr txBox="1"/>
          <p:nvPr/>
        </p:nvSpPr>
        <p:spPr>
          <a:xfrm>
            <a:off x="3150825" y="916900"/>
            <a:ext cx="30060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Preprocessing	</a:t>
            </a:r>
            <a:br>
              <a:rPr b="1" lang="en">
                <a:solidFill>
                  <a:schemeClr val="accent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1" sz="11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Merge category-specific datasets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Remove duplicate products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Clean and normalize text fields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Create unified search corpus (search_text)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Generate MiniLM embeddings (all-MiniLM-L6-v2)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Store embeddings in ChromaDB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259125" y="916900"/>
            <a:ext cx="26313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Exploratory Analysis</a:t>
            </a:r>
            <a:br>
              <a:rPr b="1" lang="en">
                <a:solidFill>
                  <a:schemeClr val="accent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1">
              <a:solidFill>
                <a:schemeClr val="accent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EDA on category distribution, ratings, and pricing patterns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Analyze product counts across categories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Compare lexical and semantic retrieval behavior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Evaluation Metrics:</a:t>
            </a:r>
            <a:b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1. Precision@5</a:t>
            </a:r>
            <a:b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2. NDCG@5</a:t>
            </a:r>
            <a:b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3. ​​Answer Relevancy</a:t>
            </a:r>
            <a:b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4. Faithfulness</a:t>
            </a:r>
            <a:b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12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5. Latency</a:t>
            </a:r>
            <a:endParaRPr b="1" sz="12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87350"/>
            <a:ext cx="843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00">
                <a:latin typeface="EB Garamond"/>
                <a:ea typeface="EB Garamond"/>
                <a:cs typeface="EB Garamond"/>
                <a:sym typeface="EB Garamond"/>
              </a:rPr>
              <a:t>RAG Pipeline Architecture</a:t>
            </a:r>
            <a:endParaRPr b="1" sz="35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6" name="Google Shape;86;p16" title="img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5" y="796300"/>
            <a:ext cx="5911814" cy="39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6591175" y="885600"/>
            <a:ext cx="2351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756775" y="722700"/>
            <a:ext cx="1823400" cy="962400"/>
          </a:xfrm>
          <a:prstGeom prst="roundRect">
            <a:avLst>
              <a:gd fmla="val 16667" name="adj"/>
            </a:avLst>
          </a:prstGeom>
          <a:solidFill>
            <a:srgbClr val="F8F8F8"/>
          </a:solidFill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390325" y="3333400"/>
            <a:ext cx="2556300" cy="1466100"/>
          </a:xfrm>
          <a:prstGeom prst="roundRect">
            <a:avLst>
              <a:gd fmla="val 16667" name="adj"/>
            </a:avLst>
          </a:prstGeom>
          <a:solidFill>
            <a:srgbClr val="F8F8F8"/>
          </a:solidFill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591125" y="1938500"/>
            <a:ext cx="2154600" cy="1091100"/>
          </a:xfrm>
          <a:prstGeom prst="roundRect">
            <a:avLst>
              <a:gd fmla="val 16667" name="adj"/>
            </a:avLst>
          </a:prstGeom>
          <a:solidFill>
            <a:srgbClr val="F8F8F8"/>
          </a:solidFill>
          <a:ln cap="flat" cmpd="sng" w="38100">
            <a:solidFill>
              <a:srgbClr val="2AA0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531625" y="3454000"/>
            <a:ext cx="22737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Bookman Old Style"/>
                <a:ea typeface="Bookman Old Style"/>
                <a:cs typeface="Bookman Old Style"/>
                <a:sym typeface="Bookman Old Style"/>
              </a:rPr>
              <a:t>RAG Framework</a:t>
            </a:r>
            <a:br>
              <a:rPr b="1" lang="en" sz="13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1"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Bookman Old Style"/>
                <a:ea typeface="Bookman Old Style"/>
                <a:cs typeface="Bookman Old Style"/>
                <a:sym typeface="Bookman Old Style"/>
              </a:rPr>
              <a:t>1. </a:t>
            </a: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ChromaDB</a:t>
            </a:r>
            <a:endParaRPr sz="11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Bookman Old Style"/>
                <a:ea typeface="Bookman Old Style"/>
                <a:cs typeface="Bookman Old Style"/>
                <a:sym typeface="Bookman Old Style"/>
              </a:rPr>
              <a:t>2. Retriever</a:t>
            </a:r>
            <a:endParaRPr sz="11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Bookman Old Style"/>
                <a:ea typeface="Bookman Old Style"/>
                <a:cs typeface="Bookman Old Style"/>
                <a:sym typeface="Bookman Old Style"/>
              </a:rPr>
              <a:t>3. Reranker</a:t>
            </a:r>
            <a:endParaRPr sz="11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4. Generate context aware</a:t>
            </a:r>
            <a:endParaRPr sz="11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response with LLM</a:t>
            </a:r>
            <a:b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 				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692125" y="2002850"/>
            <a:ext cx="20121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Models Used</a:t>
            </a:r>
            <a:endParaRPr b="1" sz="13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ookman Old Style"/>
              <a:buAutoNum type="arabicPeriod"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all-MiniLM-L6-v2 </a:t>
            </a:r>
            <a:endParaRPr sz="11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ookman Old Style"/>
              <a:buAutoNum type="arabicPeriod"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BGE Reranker </a:t>
            </a:r>
            <a:endParaRPr sz="11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ookman Old Style"/>
              <a:buAutoNum type="arabicPeriod"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Llama 3.3 70B</a:t>
            </a:r>
            <a:endParaRPr sz="11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786485" y="722705"/>
            <a:ext cx="18234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Retrievers Used</a:t>
            </a:r>
            <a:endParaRPr b="1" sz="13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ookman Old Style"/>
              <a:buAutoNum type="arabicPeriod"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BM25</a:t>
            </a:r>
            <a:endParaRPr sz="11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ookman Old Style"/>
              <a:buAutoNum type="arabicPeriod"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SBERT</a:t>
            </a:r>
            <a:endParaRPr sz="11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ookman Old Style"/>
              <a:buAutoNum type="arabicPeriod"/>
            </a:pPr>
            <a:r>
              <a:rPr lang="en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Hybrid</a:t>
            </a:r>
            <a:endParaRPr>
              <a:solidFill>
                <a:schemeClr val="accent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102350" y="950794"/>
            <a:ext cx="2025600" cy="23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102350" y="893857"/>
            <a:ext cx="2025600" cy="34200"/>
          </a:xfrm>
          <a:prstGeom prst="rect">
            <a:avLst/>
          </a:prstGeom>
          <a:solidFill>
            <a:srgbClr val="21B26B"/>
          </a:solidFill>
          <a:ln cap="flat" cmpd="sng" w="7150">
            <a:solidFill>
              <a:srgbClr val="21B26B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12800" y="1161150"/>
            <a:ext cx="18882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BM25</a:t>
            </a:r>
            <a:endParaRPr b="1" i="0" sz="12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1B26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LEXICAL RETRIEVER</a:t>
            </a:r>
            <a:endParaRPr b="1" sz="1000">
              <a:solidFill>
                <a:srgbClr val="21B26B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21B26B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Keyword-based retrieval using BM25 </a:t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</a:t>
            </a:r>
            <a:r>
              <a:rPr b="1"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EY COMPONENTS</a:t>
            </a:r>
            <a:endParaRPr sz="9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BM25 Retriver</a:t>
            </a: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</a:t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Strong keyword matching and interpretable retrieval.</a:t>
            </a:r>
            <a:endParaRPr sz="9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1B2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08687" y="514350"/>
            <a:ext cx="2606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" name="Google Shape;102;p17"/>
          <p:cNvSpPr txBox="1"/>
          <p:nvPr/>
        </p:nvSpPr>
        <p:spPr>
          <a:xfrm>
            <a:off x="1680630" y="1680210"/>
            <a:ext cx="61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" name="Google Shape;103;p17"/>
          <p:cNvSpPr/>
          <p:nvPr/>
        </p:nvSpPr>
        <p:spPr>
          <a:xfrm>
            <a:off x="2262463" y="955738"/>
            <a:ext cx="2103900" cy="23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280600" y="903778"/>
            <a:ext cx="2025600" cy="34200"/>
          </a:xfrm>
          <a:prstGeom prst="rect">
            <a:avLst/>
          </a:prstGeom>
          <a:solidFill>
            <a:srgbClr val="E99119"/>
          </a:solidFill>
          <a:ln cap="flat" cmpd="sng" w="7150">
            <a:solidFill>
              <a:srgbClr val="E99119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2299488" y="1128663"/>
            <a:ext cx="19878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SBERT + BGE</a:t>
            </a:r>
            <a:br>
              <a:rPr b="1" i="0" lang="en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900">
                <a:solidFill>
                  <a:srgbClr val="E9911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SEMANTIC RETRIEVER</a:t>
            </a:r>
            <a:endParaRPr b="1" sz="900">
              <a:solidFill>
                <a:srgbClr val="E99119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Semantic search using MiniLM embeddings stored in Chroma DB and reranked using BGE.</a:t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E99119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KEY COMPONENTS</a:t>
            </a:r>
            <a:endParaRPr b="1"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MiniLM	SBERT </a:t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Captures user intent beyond exact keywords.</a:t>
            </a:r>
            <a:endParaRPr sz="9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E991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326962" y="514350"/>
            <a:ext cx="2606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" name="Google Shape;107;p17"/>
          <p:cNvSpPr txBox="1"/>
          <p:nvPr/>
        </p:nvSpPr>
        <p:spPr>
          <a:xfrm>
            <a:off x="4012934" y="1680210"/>
            <a:ext cx="61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p17"/>
          <p:cNvSpPr txBox="1"/>
          <p:nvPr/>
        </p:nvSpPr>
        <p:spPr>
          <a:xfrm>
            <a:off x="4698905" y="1680210"/>
            <a:ext cx="61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BGE</a:t>
            </a:r>
            <a:endParaRPr sz="1100"/>
          </a:p>
        </p:txBody>
      </p:sp>
      <p:sp>
        <p:nvSpPr>
          <p:cNvPr id="109" name="Google Shape;109;p17"/>
          <p:cNvSpPr/>
          <p:nvPr/>
        </p:nvSpPr>
        <p:spPr>
          <a:xfrm>
            <a:off x="4514838" y="950800"/>
            <a:ext cx="2198400" cy="23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555625" y="903779"/>
            <a:ext cx="2103900" cy="34200"/>
          </a:xfrm>
          <a:prstGeom prst="rect">
            <a:avLst/>
          </a:prstGeom>
          <a:solidFill>
            <a:srgbClr val="7C4DFF"/>
          </a:solidFill>
          <a:ln cap="flat" cmpd="sng" w="7150">
            <a:solidFill>
              <a:srgbClr val="7C4DFF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613575" y="1137645"/>
            <a:ext cx="19878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Hybrid + BGE</a:t>
            </a:r>
            <a:endParaRPr b="1" i="0" sz="12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4D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HYBRID RETRIEVAL</a:t>
            </a:r>
            <a:endParaRPr b="1" sz="900">
              <a:solidFill>
                <a:srgbClr val="7C4D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Combines BM25 and semantic retrieval through Reciprocal Rank Fusion before reranking.</a:t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KEY COMPONENTS</a:t>
            </a:r>
            <a:endParaRPr b="1"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BM25 and Ensemble Retriever</a:t>
            </a:r>
            <a:endParaRPr sz="9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Highest faithfulness and answer relevancy.</a:t>
            </a:r>
            <a:endParaRPr sz="9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7C4D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6345225" y="514350"/>
            <a:ext cx="2606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3" name="Google Shape;113;p17"/>
          <p:cNvSpPr txBox="1"/>
          <p:nvPr/>
        </p:nvSpPr>
        <p:spPr>
          <a:xfrm>
            <a:off x="6345237" y="822960"/>
            <a:ext cx="253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4" name="Google Shape;114;p17"/>
          <p:cNvSpPr txBox="1"/>
          <p:nvPr/>
        </p:nvSpPr>
        <p:spPr>
          <a:xfrm>
            <a:off x="6345237" y="1508760"/>
            <a:ext cx="253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p17"/>
          <p:cNvSpPr txBox="1"/>
          <p:nvPr/>
        </p:nvSpPr>
        <p:spPr>
          <a:xfrm>
            <a:off x="7031209" y="1680210"/>
            <a:ext cx="61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SBERT</a:t>
            </a:r>
            <a:endParaRPr sz="1100"/>
          </a:p>
        </p:txBody>
      </p:sp>
      <p:sp>
        <p:nvSpPr>
          <p:cNvPr id="116" name="Google Shape;116;p17"/>
          <p:cNvSpPr txBox="1"/>
          <p:nvPr/>
        </p:nvSpPr>
        <p:spPr>
          <a:xfrm>
            <a:off x="7717181" y="1680210"/>
            <a:ext cx="61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RRF</a:t>
            </a:r>
            <a:endParaRPr sz="1100"/>
          </a:p>
        </p:txBody>
      </p:sp>
      <p:sp>
        <p:nvSpPr>
          <p:cNvPr id="117" name="Google Shape;117;p17"/>
          <p:cNvSpPr txBox="1"/>
          <p:nvPr/>
        </p:nvSpPr>
        <p:spPr>
          <a:xfrm>
            <a:off x="2528275" y="3548013"/>
            <a:ext cx="387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44444"/>
                </a:solidFill>
                <a:latin typeface="EB Garamond"/>
                <a:ea typeface="EB Garamond"/>
                <a:cs typeface="EB Garamond"/>
                <a:sym typeface="EB Garamond"/>
              </a:rPr>
              <a:t>Performance Improvement Strategies</a:t>
            </a:r>
            <a:endParaRPr b="1" sz="1800">
              <a:solidFill>
                <a:srgbClr val="444444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262475" y="3950750"/>
            <a:ext cx="4339500" cy="992400"/>
          </a:xfrm>
          <a:prstGeom prst="roundRect">
            <a:avLst>
              <a:gd fmla="val 16667" name="adj"/>
            </a:avLst>
          </a:prstGeom>
          <a:solidFill>
            <a:srgbClr val="FCFCFC"/>
          </a:solidFill>
          <a:ln cap="flat" cmpd="sng" w="381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115550" y="4107000"/>
            <a:ext cx="3149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Bookman Old Style"/>
              <a:buChar char="●"/>
            </a:pPr>
            <a:r>
              <a:rPr i="1" lang="en" sz="1300">
                <a:latin typeface="Bookman Old Style"/>
                <a:ea typeface="Bookman Old Style"/>
                <a:cs typeface="Bookman Old Style"/>
                <a:sym typeface="Bookman Old Style"/>
              </a:rPr>
              <a:t>Category Filtering</a:t>
            </a:r>
            <a:endParaRPr i="1"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Bookman Old Style"/>
              <a:buChar char="●"/>
            </a:pPr>
            <a:r>
              <a:rPr i="1" lang="en" sz="1300">
                <a:latin typeface="Bookman Old Style"/>
                <a:ea typeface="Bookman Old Style"/>
                <a:cs typeface="Bookman Old Style"/>
                <a:sym typeface="Bookman Old Style"/>
              </a:rPr>
              <a:t>Reranking</a:t>
            </a:r>
            <a:endParaRPr i="1"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Bookman Old Style"/>
              <a:buChar char="●"/>
            </a:pPr>
            <a:r>
              <a:rPr i="1" lang="en" sz="1300">
                <a:latin typeface="Bookman Old Style"/>
                <a:ea typeface="Bookman Old Style"/>
                <a:cs typeface="Bookman Old Style"/>
                <a:sym typeface="Bookman Old Style"/>
              </a:rPr>
              <a:t>Redis Semantic Cache</a:t>
            </a:r>
            <a:endParaRPr i="1"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458815" y="3429000"/>
            <a:ext cx="397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1" name="Google Shape;121;p17"/>
          <p:cNvSpPr/>
          <p:nvPr/>
        </p:nvSpPr>
        <p:spPr>
          <a:xfrm>
            <a:off x="6861725" y="924678"/>
            <a:ext cx="2198400" cy="23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SBERT + BGE + Redis</a:t>
            </a:r>
            <a:endParaRPr b="1" sz="1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A86E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HYBRID RETRIEVAL</a:t>
            </a:r>
            <a:endParaRPr b="1" sz="900">
              <a:solidFill>
                <a:srgbClr val="7C4D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emantic retrieval with reranking, query and context stored as key value pair in Redis Instance.</a:t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KEY COMPONENTS</a:t>
            </a:r>
            <a:endParaRPr b="1" sz="9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SBERT, BGE , Redis</a:t>
            </a:r>
            <a:endParaRPr sz="9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Bookman Old Style"/>
                <a:ea typeface="Bookman Old Style"/>
                <a:cs typeface="Bookman Old Style"/>
                <a:sym typeface="Bookman Old Style"/>
              </a:rPr>
              <a:t>More Accurate and Faster Response with Cache.</a:t>
            </a:r>
            <a:endParaRPr sz="9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7C4D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908950" y="903779"/>
            <a:ext cx="2103900" cy="34200"/>
          </a:xfrm>
          <a:prstGeom prst="rect">
            <a:avLst/>
          </a:prstGeom>
          <a:solidFill>
            <a:srgbClr val="4A86E8"/>
          </a:solidFill>
          <a:ln cap="flat" cmpd="sng" w="7150">
            <a:solidFill>
              <a:srgbClr val="7C4DFF"/>
            </a:solidFill>
            <a:prstDash val="solid"/>
            <a:round/>
            <a:headEnd len="sm" w="sm" type="none"/>
            <a:tailEnd len="sm" w="sm" type="none"/>
          </a:ln>
          <a:effectLst>
            <a:outerShdw blurRad="30005" rotWithShape="0" dir="5400000" dist="17253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249450" y="31291"/>
            <a:ext cx="86451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List Of </a:t>
            </a:r>
            <a:r>
              <a:rPr b="1" lang="en" sz="3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Experiments</a:t>
            </a:r>
            <a:r>
              <a:rPr b="1" lang="en" sz="29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sz="290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02350" y="-23555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942625" y="-25650"/>
            <a:ext cx="49068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Performance and Scalability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015013" y="591950"/>
            <a:ext cx="1532700" cy="149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773238" y="591950"/>
            <a:ext cx="1532700" cy="149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/>
          </a:p>
        </p:txBody>
      </p:sp>
      <p:sp>
        <p:nvSpPr>
          <p:cNvPr id="132" name="Google Shape;132;p18"/>
          <p:cNvSpPr txBox="1"/>
          <p:nvPr/>
        </p:nvSpPr>
        <p:spPr>
          <a:xfrm>
            <a:off x="4008275" y="647250"/>
            <a:ext cx="1451100" cy="14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7F0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Highest Faithfulness + Relevancy</a:t>
            </a:r>
            <a:endParaRPr b="1" sz="900">
              <a:solidFill>
                <a:srgbClr val="FF7F0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00">
                <a:latin typeface="Bookman Old Style"/>
                <a:ea typeface="Bookman Old Style"/>
                <a:cs typeface="Bookman Old Style"/>
                <a:sym typeface="Bookman Old Style"/>
              </a:rPr>
              <a:t>0.811 → </a:t>
            </a:r>
            <a:r>
              <a:rPr lang="en" sz="700"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lang="en" sz="700">
                <a:latin typeface="Bookman Old Style"/>
                <a:ea typeface="Bookman Old Style"/>
                <a:cs typeface="Bookman Old Style"/>
                <a:sym typeface="Bookman Old Style"/>
              </a:rPr>
              <a:t>HYBRID + BGE 0.752 → </a:t>
            </a:r>
            <a:r>
              <a:rPr b="1" lang="en" sz="7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HYBRID + BGE </a:t>
            </a:r>
            <a:br>
              <a:rPr b="1" lang="en" sz="7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lang="en" sz="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800">
                <a:latin typeface="Bookman Old Style"/>
                <a:ea typeface="Bookman Old Style"/>
                <a:cs typeface="Bookman Old Style"/>
                <a:sym typeface="Bookman Old Style"/>
              </a:rPr>
              <a:t>Achieved the strongest grounding and factual consistency.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881650" y="715325"/>
            <a:ext cx="13560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AA02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Lowest Latency</a:t>
            </a:r>
            <a:br>
              <a:rPr b="1" lang="en" sz="1000">
                <a:solidFill>
                  <a:srgbClr val="2AA02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b="1" lang="en" sz="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en" sz="700">
                <a:latin typeface="Bookman Old Style"/>
                <a:ea typeface="Bookman Old Style"/>
                <a:cs typeface="Bookman Old Style"/>
                <a:sym typeface="Bookman Old Style"/>
              </a:rPr>
              <a:t>0.764→ REDIS + SBERT + BGE</a:t>
            </a:r>
            <a:br>
              <a:rPr b="1" lang="en" sz="700"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b="1" lang="en" sz="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800">
                <a:latin typeface="Bookman Old Style"/>
                <a:ea typeface="Bookman Old Style"/>
                <a:cs typeface="Bookman Old Style"/>
                <a:sym typeface="Bookman Old Style"/>
              </a:rPr>
              <a:t>Semantic caching significantly reduced retrieval and response time.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7449875" y="578250"/>
            <a:ext cx="1532700" cy="149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/>
          </a:p>
        </p:txBody>
      </p:sp>
      <p:sp>
        <p:nvSpPr>
          <p:cNvPr id="135" name="Google Shape;135;p18"/>
          <p:cNvSpPr txBox="1"/>
          <p:nvPr/>
        </p:nvSpPr>
        <p:spPr>
          <a:xfrm>
            <a:off x="3939450" y="2146050"/>
            <a:ext cx="524040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Key Findings</a:t>
            </a:r>
            <a:endParaRPr b="1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Best Overall Quality</a:t>
            </a:r>
            <a:b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Hybrid + BGE as the best overall pipeline because it achieved the highest Faithfulness and Answer Relevancy scores while maintaining retrieval performance that was very close to SBERT + BGE.</a:t>
            </a:r>
            <a:endParaRPr sz="9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Semantic Search Works Better</a:t>
            </a:r>
            <a:b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SBERT produced more accurate and trustworthy answers than traditional BM25 keyword search. It also returned more relevant products and ranked them more effectively than BM25-based retrieval.</a:t>
            </a:r>
            <a:endParaRPr sz="9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Fastest Performance</a:t>
            </a:r>
            <a:b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Redis + SBERT + BGE returned answers the fastest while still maintaining good quality.</a:t>
            </a:r>
            <a:endParaRPr sz="9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Quality vs. Speed</a:t>
            </a:r>
            <a:b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900">
                <a:solidFill>
                  <a:srgbClr val="44444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Hybrid + BGE delivered the best answer quality, while Redis + SBERT + BGE offered the best balance between speed and quality.</a:t>
            </a:r>
            <a:endParaRPr sz="900">
              <a:solidFill>
                <a:srgbClr val="444444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4444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44444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7531475" y="660950"/>
            <a:ext cx="14511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C4D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Highest Precision + NDCG</a:t>
            </a:r>
            <a:endParaRPr b="1" sz="1000">
              <a:solidFill>
                <a:srgbClr val="7C4DF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highlight>
                  <a:schemeClr val="lt1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0.9867 —&gt; SBERT + BGE</a:t>
            </a:r>
            <a:endParaRPr b="1" sz="700">
              <a:solidFill>
                <a:schemeClr val="dk1"/>
              </a:solidFill>
              <a:highlight>
                <a:schemeClr val="lt1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highlight>
                  <a:schemeClr val="lt1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0.989 —&gt; </a:t>
            </a:r>
            <a:r>
              <a:rPr b="1" lang="en" sz="700">
                <a:solidFill>
                  <a:schemeClr val="dk1"/>
                </a:solidFill>
                <a:highlight>
                  <a:schemeClr val="lt1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SBERT + BGE</a:t>
            </a:r>
            <a:br>
              <a:rPr b="1" lang="en" sz="700">
                <a:solidFill>
                  <a:schemeClr val="dk1"/>
                </a:solidFill>
                <a:highlight>
                  <a:schemeClr val="lt1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1" sz="700">
              <a:solidFill>
                <a:schemeClr val="dk1"/>
              </a:solidFill>
              <a:highlight>
                <a:schemeClr val="lt1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Bookman Old Style"/>
                <a:ea typeface="Bookman Old Style"/>
                <a:cs typeface="Bookman Old Style"/>
                <a:sym typeface="Bookman Old Style"/>
              </a:rPr>
              <a:t>Retrieved the most relevant top-ranked products for user queries.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7" name="Google Shape;137;p18" title="Screenshot 2026-06-07 at 8.24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37825" cy="23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title="Screenshot 2026-06-07 at 8.28.0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200" y="2644000"/>
            <a:ext cx="4015025" cy="2143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5767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Conclusion &amp; Future Work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206463" y="627331"/>
            <a:ext cx="4346400" cy="42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Project Takeaways</a:t>
            </a:r>
            <a:endParaRPr b="1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216700" y="1262525"/>
            <a:ext cx="3321000" cy="877200"/>
          </a:xfrm>
          <a:prstGeom prst="rect">
            <a:avLst/>
          </a:prstGeom>
          <a:solidFill>
            <a:srgbClr val="D9EAD3"/>
          </a:solidFill>
          <a:ln cap="flat" cmpd="sng" w="38100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47" name="Google Shape;147;p19"/>
          <p:cNvCxnSpPr/>
          <p:nvPr/>
        </p:nvCxnSpPr>
        <p:spPr>
          <a:xfrm>
            <a:off x="229900" y="1245575"/>
            <a:ext cx="8400" cy="911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9"/>
          <p:cNvSpPr/>
          <p:nvPr/>
        </p:nvSpPr>
        <p:spPr>
          <a:xfrm>
            <a:off x="229900" y="3626825"/>
            <a:ext cx="3321000" cy="877200"/>
          </a:xfrm>
          <a:prstGeom prst="rect">
            <a:avLst/>
          </a:prstGeom>
          <a:solidFill>
            <a:srgbClr val="D9EAD3"/>
          </a:solidFill>
          <a:ln cap="flat" cmpd="sng" w="38100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216700" y="2483000"/>
            <a:ext cx="3321000" cy="877200"/>
          </a:xfrm>
          <a:prstGeom prst="rect">
            <a:avLst/>
          </a:prstGeom>
          <a:solidFill>
            <a:srgbClr val="D9EAD3"/>
          </a:solidFill>
          <a:ln cap="flat" cmpd="sng" w="38100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>
            <a:off x="229900" y="3609875"/>
            <a:ext cx="8400" cy="911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229900" y="2466050"/>
            <a:ext cx="8400" cy="911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9"/>
          <p:cNvSpPr txBox="1"/>
          <p:nvPr/>
        </p:nvSpPr>
        <p:spPr>
          <a:xfrm>
            <a:off x="262944" y="1292503"/>
            <a:ext cx="32946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200">
                <a:latin typeface="Bookman Old Style"/>
                <a:ea typeface="Bookman Old Style"/>
                <a:cs typeface="Bookman Old Style"/>
                <a:sym typeface="Bookman Old Style"/>
              </a:rPr>
              <a:t>Retrieval Matters</a:t>
            </a:r>
            <a:br>
              <a:rPr b="1" lang="en" sz="11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1000">
                <a:latin typeface="Bookman Old Style"/>
                <a:ea typeface="Bookman Old Style"/>
                <a:cs typeface="Bookman Old Style"/>
                <a:sym typeface="Bookman Old Style"/>
              </a:rPr>
              <a:t>The choice of retrieval strategy has a significant impact on the quality of generated responses.</a:t>
            </a:r>
            <a:endParaRPr sz="1700">
              <a:solidFill>
                <a:schemeClr val="accent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59703" y="2458494"/>
            <a:ext cx="30828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200">
                <a:latin typeface="Bookman Old Style"/>
                <a:ea typeface="Bookman Old Style"/>
                <a:cs typeface="Bookman Old Style"/>
                <a:sym typeface="Bookman Old Style"/>
              </a:rPr>
              <a:t>Semantic Search Improves RAG</a:t>
            </a:r>
            <a:br>
              <a:rPr b="1" lang="en" sz="11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1000">
                <a:latin typeface="Bookman Old Style"/>
                <a:ea typeface="Bookman Old Style"/>
                <a:cs typeface="Bookman Old Style"/>
                <a:sym typeface="Bookman Old Style"/>
              </a:rPr>
              <a:t>Embedding-based retrieval helps better understand user intent and improves answer grounding.</a:t>
            </a:r>
            <a:endParaRPr sz="1700">
              <a:solidFill>
                <a:schemeClr val="accent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269606" y="3626994"/>
            <a:ext cx="32019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Bookman Old Style"/>
                <a:ea typeface="Bookman Old Style"/>
                <a:cs typeface="Bookman Old Style"/>
                <a:sym typeface="Bookman Old Style"/>
              </a:rPr>
              <a:t>Caching Enhances Efficiency</a:t>
            </a:r>
            <a:br>
              <a:rPr b="1" lang="en" sz="11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1000">
                <a:latin typeface="Bookman Old Style"/>
                <a:ea typeface="Bookman Old Style"/>
                <a:cs typeface="Bookman Old Style"/>
                <a:sym typeface="Bookman Old Style"/>
              </a:rPr>
              <a:t>Semantic caching can substantially reduce response time without sacrificing answer quality.</a:t>
            </a:r>
            <a:endParaRPr sz="1700">
              <a:solidFill>
                <a:schemeClr val="accent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 flipH="1" rot="10800000">
            <a:off x="170325" y="1074428"/>
            <a:ext cx="3823500" cy="8400"/>
          </a:xfrm>
          <a:prstGeom prst="straightConnector1">
            <a:avLst/>
          </a:prstGeom>
          <a:noFill/>
          <a:ln cap="flat" cmpd="sng" w="76200">
            <a:solidFill>
              <a:srgbClr val="D2DCE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9"/>
          <p:cNvSpPr txBox="1"/>
          <p:nvPr/>
        </p:nvSpPr>
        <p:spPr>
          <a:xfrm>
            <a:off x="4553013" y="624469"/>
            <a:ext cx="4198200" cy="3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Future Directions</a:t>
            </a:r>
            <a:endParaRPr b="1"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cxnSp>
        <p:nvCxnSpPr>
          <p:cNvPr id="157" name="Google Shape;157;p19"/>
          <p:cNvCxnSpPr/>
          <p:nvPr/>
        </p:nvCxnSpPr>
        <p:spPr>
          <a:xfrm flipH="1" rot="10800000">
            <a:off x="4658100" y="1054584"/>
            <a:ext cx="3609900" cy="8400"/>
          </a:xfrm>
          <a:prstGeom prst="straightConnector1">
            <a:avLst/>
          </a:prstGeom>
          <a:noFill/>
          <a:ln cap="flat" cmpd="sng" w="76200">
            <a:solidFill>
              <a:srgbClr val="D2DCE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9"/>
          <p:cNvSpPr/>
          <p:nvPr/>
        </p:nvSpPr>
        <p:spPr>
          <a:xfrm>
            <a:off x="4751300" y="1252263"/>
            <a:ext cx="3321000" cy="87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751300" y="2451538"/>
            <a:ext cx="3321000" cy="87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0" name="Google Shape;160;p19"/>
          <p:cNvSpPr/>
          <p:nvPr/>
        </p:nvSpPr>
        <p:spPr>
          <a:xfrm>
            <a:off x="4751300" y="3650825"/>
            <a:ext cx="3321000" cy="87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4761697" y="1300244"/>
            <a:ext cx="30828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Bookman Old Style"/>
                <a:ea typeface="Bookman Old Style"/>
                <a:cs typeface="Bookman Old Style"/>
                <a:sym typeface="Bookman Old Style"/>
              </a:rPr>
              <a:t>Larger Evaluation Dataset</a:t>
            </a:r>
            <a:br>
              <a:rPr b="1" lang="en" sz="11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1000">
                <a:latin typeface="Bookman Old Style"/>
                <a:ea typeface="Bookman Old Style"/>
                <a:cs typeface="Bookman Old Style"/>
                <a:sym typeface="Bookman Old Style"/>
              </a:rPr>
              <a:t>Evaluate retrieval performance on a wider variety of product categories and user intents.</a:t>
            </a:r>
            <a:endParaRPr sz="10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772319" y="2505816"/>
            <a:ext cx="31599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Bookman Old Style"/>
                <a:ea typeface="Bookman Old Style"/>
                <a:cs typeface="Bookman Old Style"/>
                <a:sym typeface="Bookman Old Style"/>
              </a:rPr>
              <a:t>Stronger Retrieval Models</a:t>
            </a:r>
            <a:br>
              <a:rPr b="1" lang="en" sz="10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1000">
                <a:latin typeface="Bookman Old Style"/>
                <a:ea typeface="Bookman Old Style"/>
                <a:cs typeface="Bookman Old Style"/>
                <a:sym typeface="Bookman Old Style"/>
              </a:rPr>
              <a:t>Explore larger embedding models and advanced reranking approaches.</a:t>
            </a:r>
            <a:endParaRPr sz="10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4771850" y="3691609"/>
            <a:ext cx="30828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Bookman Old Style"/>
                <a:ea typeface="Bookman Old Style"/>
                <a:cs typeface="Bookman Old Style"/>
                <a:sym typeface="Bookman Old Style"/>
              </a:rPr>
              <a:t>Real-Time Deployment</a:t>
            </a:r>
            <a:br>
              <a:rPr b="1" lang="en" sz="1000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" sz="1000">
                <a:latin typeface="Bookman Old Style"/>
                <a:ea typeface="Bookman Old Style"/>
                <a:cs typeface="Bookman Old Style"/>
                <a:sym typeface="Bookman Old Style"/>
              </a:rPr>
              <a:t>Develop a scalable web application with live indexing and monitoring.</a:t>
            </a:r>
            <a:endParaRPr sz="10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245250" y="1183700"/>
            <a:ext cx="8520600" cy="15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44">
                <a:solidFill>
                  <a:schemeClr val="accent3"/>
                </a:solidFill>
              </a:rPr>
              <a:t>Thank You!</a:t>
            </a:r>
            <a:endParaRPr b="1" sz="4444">
              <a:solidFill>
                <a:schemeClr val="accent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78"/>
              <a:t>Intelligent E-Commerce Search with Retrieval Augmented Generation for</a:t>
            </a:r>
            <a:endParaRPr sz="1578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/>
              <a:t>Improving product discovery through semantic retrieval, reranking, and large language models.</a:t>
            </a:r>
            <a:endParaRPr b="1" sz="1300"/>
          </a:p>
        </p:txBody>
      </p:sp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178800" y="3108225"/>
            <a:ext cx="88137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🔹 Python  🔹  LangChain  🔹  ChromaDB  🔹  Redis  🔹  Hugging Face Embeddings  🔹  BGE Reranker  🔹  Groq / Llama 3.3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